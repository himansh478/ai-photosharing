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600" b="1">
                <a:solidFill>
                  <a:srgbClr val="FFFFFF"/>
                </a:solidFill>
                <a:latin typeface="Segoe UI"/>
              </a:defRPr>
            </a:pPr>
            <a:r>
              <a:t>AI Photo Sharing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560320"/>
            <a:ext cx="27432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94A3B8"/>
                </a:solidFill>
                <a:latin typeface="Segoe UI"/>
              </a:defRPr>
            </a:pPr>
            <a:r>
              <a:t>Intelligent Face Recognition &amp; Automated Photo Distribution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78BFA"/>
                </a:solidFill>
                <a:latin typeface="Segoe UI"/>
              </a:defRPr>
            </a:pPr>
            <a:r>
              <a:t>InsightFace (buffalo_l)  ·  Flask  ·  Supabase  ·  Hugging Face  ·  Docker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120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Segoe UI"/>
              </a:defRPr>
            </a:pPr>
            <a:r>
              <a:t>Technical Deep Dive  |  June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669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Segoe UI"/>
              </a:defRPr>
            </a:pPr>
            <a:r>
              <a:t>GitHub: himansh478/ai-photosharing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89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Segoe UI"/>
              </a:defRPr>
            </a:pPr>
            <a:r>
              <a:t>Live: gour-himansh.hf.space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Problem &amp;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97280"/>
            <a:ext cx="1828800" cy="508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5029200" cy="22860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" y="1737360"/>
            <a:ext cx="731520" cy="381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B923C"/>
                </a:solidFill>
                <a:latin typeface="Segoe UI"/>
              </a:defRPr>
            </a:pPr>
            <a:r>
              <a:t>❌  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FB923C"/>
                </a:solidFill>
                <a:latin typeface="Segoe UI"/>
              </a:rPr>
              <a:t>▸ </a:t>
            </a:r>
            <a:r>
              <a:rPr sz="1500">
                <a:solidFill>
                  <a:srgbClr val="E2E8F0"/>
                </a:solidFill>
                <a:latin typeface="Segoe UI"/>
              </a:rPr>
              <a:t>Event photos manually sorted by photographer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FB923C"/>
                </a:solidFill>
                <a:latin typeface="Segoe UI"/>
              </a:rPr>
              <a:t>▸ </a:t>
            </a:r>
            <a:r>
              <a:rPr sz="1500">
                <a:solidFill>
                  <a:srgbClr val="E2E8F0"/>
                </a:solidFill>
                <a:latin typeface="Segoe UI"/>
              </a:rPr>
              <a:t>Users scroll through 100s of photos to find themselves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FB923C"/>
                </a:solidFill>
                <a:latin typeface="Segoe UI"/>
              </a:rPr>
              <a:t>▸ </a:t>
            </a:r>
            <a:r>
              <a:rPr sz="1500">
                <a:solidFill>
                  <a:srgbClr val="E2E8F0"/>
                </a:solidFill>
                <a:latin typeface="Segoe UI"/>
              </a:rPr>
              <a:t>No automated face-matching at scale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FB923C"/>
                </a:solidFill>
                <a:latin typeface="Segoe UI"/>
              </a:rPr>
              <a:t>▸ </a:t>
            </a:r>
            <a:r>
              <a:rPr sz="1500">
                <a:solidFill>
                  <a:srgbClr val="E2E8F0"/>
                </a:solidFill>
                <a:latin typeface="Segoe UI"/>
              </a:rPr>
              <a:t>Photo distribution is slow, expensive &amp; error-prone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029200" cy="22860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46520" y="1737360"/>
            <a:ext cx="73152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745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ADE80"/>
                </a:solidFill>
                <a:latin typeface="Segoe UI"/>
              </a:defRPr>
            </a:pPr>
            <a:r>
              <a:t>✅  OUR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28600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4ADE80"/>
                </a:solidFill>
                <a:latin typeface="Segoe UI"/>
              </a:rPr>
              <a:t>▸ </a:t>
            </a:r>
            <a:r>
              <a:rPr sz="1500">
                <a:solidFill>
                  <a:srgbClr val="E2E8F0"/>
                </a:solidFill>
                <a:latin typeface="Segoe UI"/>
              </a:rPr>
              <a:t>AI-powered face detection + 512-dim embedding extraction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4ADE80"/>
                </a:solidFill>
                <a:latin typeface="Segoe UI"/>
              </a:rPr>
              <a:t>▸ </a:t>
            </a:r>
            <a:r>
              <a:rPr sz="1500">
                <a:solidFill>
                  <a:srgbClr val="E2E8F0"/>
                </a:solidFill>
                <a:latin typeface="Segoe UI"/>
              </a:rPr>
              <a:t>User uploads selfie → instant face match across event gallery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4ADE80"/>
                </a:solidFill>
                <a:latin typeface="Segoe UI"/>
              </a:rPr>
              <a:t>▸ </a:t>
            </a:r>
            <a:r>
              <a:rPr sz="1500">
                <a:solidFill>
                  <a:srgbClr val="E2E8F0"/>
                </a:solidFill>
                <a:latin typeface="Segoe UI"/>
              </a:rPr>
              <a:t>Cosine similarity search (threshold 0.4) for high recall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4ADE80"/>
                </a:solidFill>
                <a:latin typeface="Segoe UI"/>
              </a:rPr>
              <a:t>▸ </a:t>
            </a:r>
            <a:r>
              <a:rPr sz="1500">
                <a:solidFill>
                  <a:srgbClr val="E2E8F0"/>
                </a:solidFill>
                <a:latin typeface="Segoe UI"/>
              </a:rPr>
              <a:t>Fully automated — zero manual sorting needed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297680"/>
            <a:ext cx="10515600" cy="20116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60120" y="4389120"/>
            <a:ext cx="73152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52628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8BDF8"/>
                </a:solidFill>
                <a:latin typeface="Segoe UI"/>
              </a:defRPr>
            </a:pPr>
            <a:r>
              <a:t>🔄  HOW IT WORKS (In 4 Steps)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937760"/>
            <a:ext cx="10241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38BDF8"/>
                </a:solidFill>
                <a:latin typeface="Segoe UI"/>
              </a:rPr>
              <a:t>▸ </a:t>
            </a:r>
            <a:r>
              <a:rPr sz="1500">
                <a:solidFill>
                  <a:srgbClr val="E2E8F0"/>
                </a:solidFill>
                <a:latin typeface="Segoe UI"/>
              </a:rPr>
              <a:t>1. Photographer registers event &amp; gets unique code (EVT-2026-XXXXXX)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38BDF8"/>
                </a:solidFill>
                <a:latin typeface="Segoe UI"/>
              </a:rPr>
              <a:t>▸ </a:t>
            </a:r>
            <a:r>
              <a:rPr sz="1500">
                <a:solidFill>
                  <a:srgbClr val="E2E8F0"/>
                </a:solidFill>
                <a:latin typeface="Segoe UI"/>
              </a:rPr>
              <a:t>2. Photographer uploads batch photos → AI detects faces &amp; generates 512-dim embeddings → stored in Supabase (JSONB)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38BDF8"/>
                </a:solidFill>
                <a:latin typeface="Segoe UI"/>
              </a:rPr>
              <a:t>▸ </a:t>
            </a:r>
            <a:r>
              <a:rPr sz="1500">
                <a:solidFill>
                  <a:srgbClr val="E2E8F0"/>
                </a:solidFill>
                <a:latin typeface="Segoe UI"/>
              </a:rPr>
              <a:t>3. User enters event code + uploads selfie → AI extracts user's face embedding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38BDF8"/>
                </a:solidFill>
                <a:latin typeface="Segoe UI"/>
              </a:rPr>
              <a:t>▸ </a:t>
            </a:r>
            <a:r>
              <a:rPr sz="1500">
                <a:solidFill>
                  <a:srgbClr val="E2E8F0"/>
                </a:solidFill>
                <a:latin typeface="Segoe UI"/>
              </a:rPr>
              <a:t>4. System runs cosine similarity against all event embeddings → returns matched photos instantly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97280"/>
            <a:ext cx="1828800" cy="508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2697480" cy="32004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645920"/>
            <a:ext cx="73152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78308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🧠  AI / 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94560"/>
            <a:ext cx="2423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InsightFace (buffalo_l) — ONNX model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Face Detection + 512-dim Embedding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OpenCV (headless) for image I/O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NumPy / SciPy — cosine similarity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554480"/>
            <a:ext cx="2697480" cy="32004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1645920"/>
            <a:ext cx="73152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78308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ADE80"/>
                </a:solidFill>
                <a:latin typeface="Segoe UI"/>
              </a:defRPr>
            </a:pPr>
            <a:r>
              <a:t>⚙️  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194560"/>
            <a:ext cx="2423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4ADE80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Flask 2.3 (Python 3.10)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4ADE80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Waitress WSGI (Production server)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4ADE80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Blueprint-based modular API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4ADE80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ThreadPoolExecutor + Semaphore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554480"/>
            <a:ext cx="2697480" cy="32004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645920"/>
            <a:ext cx="73152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78308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78BFA"/>
                </a:solidFill>
                <a:latin typeface="Segoe UI"/>
              </a:defRPr>
            </a:pPr>
            <a:r>
              <a:t>🗄️  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194560"/>
            <a:ext cx="2423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A78BFA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Supabase (PostgreSQL 15+)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A78BFA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ThreadedConnectionPool (psycopg2)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A78BFA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JSONB for face embeddings storage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A78BFA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Row Level Security (RLS) enabled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554480"/>
            <a:ext cx="2697480" cy="32004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35440" y="1645920"/>
            <a:ext cx="731520" cy="381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78308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B923C"/>
                </a:solidFill>
                <a:latin typeface="Segoe UI"/>
              </a:defRPr>
            </a:pPr>
            <a:r>
              <a:t>☁️  Cloud &amp; Storage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194560"/>
            <a:ext cx="2423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FB923C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Hugging Face Datasets (private repo)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FB923C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Secure Proxy API (token never exposed)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FB923C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Docker multi-stage build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FB923C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HF Spaces (free tier deployment)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029200"/>
            <a:ext cx="5303520" cy="13716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5120640"/>
            <a:ext cx="731520" cy="381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257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472B6"/>
                </a:solidFill>
                <a:latin typeface="Segoe UI"/>
              </a:defRPr>
            </a:pPr>
            <a:r>
              <a:t>🛡️  Security &amp; Monitoring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6692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F472B6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Strict CORS (domain whitelist)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F472B6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CSP headers (anti-iframe hijack)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F472B6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Flask-Limiter (rate limiting: 5/min on verify)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F472B6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Sentry SDK (error monitoring in production)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5029200"/>
            <a:ext cx="5303520" cy="13716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5120640"/>
            <a:ext cx="73152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5257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🧪  Testing &amp; DevOps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56692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Pytest unit tests (user endpoints, matching)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Config.TESTING flag (skip heavy engine load)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Docker healthcheck endpoint (/api/health)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GitHub Push Protection (secret scanning)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97280"/>
            <a:ext cx="18288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200400" cy="146304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554480"/>
            <a:ext cx="73152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🌐 Frontend (Static HTML/JS)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031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Landing Page (/)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Photographer Dashboard (/photographer)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User Face Match Portal (/user)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749039" y="2011680"/>
            <a:ext cx="640080" cy="36576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80560" y="1463040"/>
            <a:ext cx="3200400" cy="146304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17720" y="1554480"/>
            <a:ext cx="73152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691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Segoe UI"/>
              </a:defRPr>
            </a:pPr>
            <a:r>
              <a:t>⚙️ Flask API (Waitress)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1031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4ADE80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photographer_bp  (register, upload-batch, stats)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4ADE80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user_bp  (verify-code, upload-selfie, download)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4ADE80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Proxy endpoint  (/api/proxy/*)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772400" y="2011680"/>
            <a:ext cx="640080" cy="365760"/>
          </a:xfrm>
          <a:prstGeom prst="right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503920" y="1463040"/>
            <a:ext cx="3200400" cy="146304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41080" y="1554480"/>
            <a:ext cx="73152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41080" y="1691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Segoe UI"/>
              </a:defRPr>
            </a:pPr>
            <a:r>
              <a:t>🧠 InsightFace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21031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A78BFA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FaceAnalysis (buffalo_l, ONNX)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A78BFA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detect_and_embed() → list[512-dim]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A78BFA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get_user_embedding() → best face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5852160" y="3017520"/>
            <a:ext cx="365760" cy="457200"/>
          </a:xfrm>
          <a:prstGeom prst="down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7200" y="3749039"/>
            <a:ext cx="3474720" cy="25603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3840479"/>
            <a:ext cx="73152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9776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Segoe UI"/>
              </a:defRPr>
            </a:pPr>
            <a:r>
              <a:t>🗄️ Supabase (PostgreSQL)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389119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A78BFA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photographers — event registration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A78BFA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photos — file_path, embeddings (JSONB)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A78BFA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user_sessions — selfie + match count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A78BFA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download_logs — audit trail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A78BFA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ThreadedConnectionPool (1-20 conns)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A78BFA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Auto-retry with pooler fallback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06240" y="3749039"/>
            <a:ext cx="3474720" cy="25603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43400" y="3840479"/>
            <a:ext cx="731520" cy="381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3400" y="39776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923C"/>
                </a:solidFill>
                <a:latin typeface="Segoe UI"/>
              </a:defRPr>
            </a:pPr>
            <a:r>
              <a:t>☁️ Hugging Face (Private Dataset)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4389119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FB923C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photos/ — full resolution originals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FB923C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thumbnails/ — 400×400 JPEG (quality 85)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FB923C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HfApi.upload_file() with Bearer token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FB923C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Proxy API: /api/proxy/&lt;path&gt;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FB923C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Token NEVER exposed to frontend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FB923C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Stream response (4KB chunks)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55279" y="3749039"/>
            <a:ext cx="3474720" cy="25603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92439" y="3840479"/>
            <a:ext cx="731520" cy="381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92439" y="39776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472B6"/>
                </a:solidFill>
                <a:latin typeface="Segoe UI"/>
              </a:defRPr>
            </a:pPr>
            <a:r>
              <a:t>🔍 Matching Service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39" y="4389119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F472B6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Fetch all photos for photographer_id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F472B6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json_to_embeddings() → numpy arrays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F472B6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Cosine similarity (np.dot / norms)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F472B6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Threshold ≥ 0.4 → match confirmed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F472B6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Sort by similarity DESC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F472B6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Return photo_id + thumbnail + download URL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AI Face Engine — Deep Dive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97280"/>
            <a:ext cx="1828800" cy="508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File: backend/models/face_engine.py  |  Class: FaceEngine  |  Pattern: Singleton (get_engine())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3474720" cy="43891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2103120"/>
            <a:ext cx="73152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240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Segoe UI"/>
              </a:defRPr>
            </a:pPr>
            <a:r>
              <a:t>📦  Model Loading (_load)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51760"/>
            <a:ext cx="3200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A78BFA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Library: insightface.app.FaceAnalysis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A78BFA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Model: buffalo_l (ArcFace + RetinaFace)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A78BFA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Format: ONNX Runtime execution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A78BFA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det_size: (640, 640) — OOM-safe for HF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A78BFA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det_thresh: 0.35 — balanced recall/precision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A78BFA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ctx_id: GPU (0) if torch.cuda else CPU (-1)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A78BFA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Singleton pattern → loaded once globally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A78BFA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Background thread loading → server starts fast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A78BFA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Error captured in self.load_error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2011680"/>
            <a:ext cx="3474720" cy="43891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2103120"/>
            <a:ext cx="73152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240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🔬  detect_and_embed(image_path)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651760"/>
            <a:ext cx="3200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Input: local file path (JPEG/PNG/WebP)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Step 1: cv2.imread() → BGR numpy array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Step 2: self._app.get(img) → list[Face]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Step 3: face.normed_embedding → 512-dim vec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Output: list[np.ndarray] — one per face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Returns [] if no faces or engine not ready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Used by: Photographer batch upload pipeline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Face count stored in photos.face_count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Photos with 0 faces → skipped (no upload)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2011680"/>
            <a:ext cx="3474720" cy="43891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39" y="2103120"/>
            <a:ext cx="73152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39" y="2240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Segoe UI"/>
              </a:defRPr>
            </a:pPr>
            <a:r>
              <a:t>👤  get_user_embedding(image_path)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39" y="2651760"/>
            <a:ext cx="3200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4ADE80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Input: user selfie file path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4ADE80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Step 1: cv2.imread() → BGR array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4ADE80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Step 2: self._app.get(img) → Face list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4ADE80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Step 3: Pick largest face by bbox area: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4ADE80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   max(faces, key=bbox_area)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4ADE80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Step 4: Return normed_embedding (512-d)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4ADE80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Returns None if no face detected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4ADE80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Used by: User selfie upload endpoint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4ADE80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Only ONE embedding → the most prominent face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Photographer Upload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97280"/>
            <a:ext cx="1828800" cy="508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File: backend/api/photographer.py  |  Async batch processing with ThreadPoolExecutor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011680"/>
            <a:ext cx="2697480" cy="38404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4884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1️⃣  Register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514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POST /api/photographer/register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Input: name, email, event_name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Output: photographer_id + code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Code format: EVT-2026-XXXXXX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Stored in: photographers table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108960" y="3657600"/>
            <a:ext cx="137160" cy="36576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91840" y="2011680"/>
            <a:ext cx="2697480" cy="38404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214884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Segoe UI"/>
              </a:defRPr>
            </a:pPr>
            <a:r>
              <a:t>2️⃣  Upload Batch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606040"/>
            <a:ext cx="2514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POST /api/photographer/upload-batch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Input: code + photos[] (max 120)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Validate photographer code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Save all files to TEMP dir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Return job_id (HTTP 202 Accepted)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035040" y="3657600"/>
            <a:ext cx="137160" cy="365760"/>
          </a:xfrm>
          <a:prstGeom prst="right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2011680"/>
            <a:ext cx="2697480" cy="38404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214884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Segoe UI"/>
              </a:defRPr>
            </a:pPr>
            <a:r>
              <a:t>3️⃣  AI Processing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606040"/>
            <a:ext cx="2514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_process_batch() in background thread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AI_SEMAPHORE (limit 1 concurrent)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For each photo: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  → engine.detect_and_embed()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  → Skip if no faces found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  → Submit to UPLOAD_EXECUTOR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961120" y="3657600"/>
            <a:ext cx="137160" cy="365760"/>
          </a:xfrm>
          <a:prstGeom prst="rightArrow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44000" y="2011680"/>
            <a:ext cx="2697480" cy="38404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214884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923C"/>
                </a:solidFill>
                <a:latin typeface="Segoe UI"/>
              </a:defRPr>
            </a:pPr>
            <a:r>
              <a:t>4️⃣  Cloud Upload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606040"/>
            <a:ext cx="2514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_finish_upload() in ThreadPoolExecutor(5)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Segoe U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upload_to_hf() → photos/ folder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generate_thumbnail() → thumbnails/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INSERT into photos table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UPDATE photographer total_photos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Cleanup temp file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6035040"/>
            <a:ext cx="10972800" cy="6400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6126480"/>
            <a:ext cx="73152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📊  GET /api/photographer/batch-status/&lt;job_id&gt;  →  {status, total, processed, uploaded, skipped}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675120"/>
            <a:ext cx="10698480" cy="-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User Face Matching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97280"/>
            <a:ext cx="1828800" cy="508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Files: backend/api/user.py + backend/services/matching_service.py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920240"/>
            <a:ext cx="2697480" cy="41148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2011680"/>
            <a:ext cx="73152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488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1️⃣ Verify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60320"/>
            <a:ext cx="2423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POST /api/user/verify-code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Rate limited: 5 per minute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Query photographers WHERE code=?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Fallback: Supabase REST API if DB fails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Returns: event_name, photographer info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08960" y="3749040"/>
            <a:ext cx="137160" cy="36576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91840" y="1920240"/>
            <a:ext cx="2697480" cy="41148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2011680"/>
            <a:ext cx="73152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21488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ADE80"/>
                </a:solidFill>
                <a:latin typeface="Segoe UI"/>
              </a:defRPr>
            </a:pPr>
            <a:r>
              <a:t>2️⃣ Upload Selfie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560320"/>
            <a:ext cx="2423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4ADE80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POST /api/user/upload-selfie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4ADE80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Save selfie to temp dir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4ADE80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engine.get_user_embedding(path)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4ADE80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Pick largest face from selfie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4ADE80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Returns 400 if no face detected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4ADE80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Upload selfie to HF for persistence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035040" y="3749040"/>
            <a:ext cx="137160" cy="365760"/>
          </a:xfrm>
          <a:prstGeom prst="right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1920240"/>
            <a:ext cx="2697480" cy="41148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2011680"/>
            <a:ext cx="73152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1488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78BFA"/>
                </a:solidFill>
                <a:latin typeface="Segoe UI"/>
              </a:defRPr>
            </a:pPr>
            <a:r>
              <a:t>3️⃣ Face Matching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560320"/>
            <a:ext cx="2423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A78BFA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MatchingService.find_matches()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A78BFA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SELECT all photos for photographer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A78BFA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For each photo's embeddings: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A78BFA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  → cosine_similarity(user, photo_face)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A78BFA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  → Track best_sim across all faces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A78BFA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Filter: best_sim &gt;= 0.4 (threshold)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A78BFA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Sort by similarity DESC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961120" y="3749040"/>
            <a:ext cx="137160" cy="365760"/>
          </a:xfrm>
          <a:prstGeom prst="rightArrow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44000" y="1920240"/>
            <a:ext cx="2697480" cy="41148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81160" y="2011680"/>
            <a:ext cx="731520" cy="381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60" y="21488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B923C"/>
                </a:solidFill>
                <a:latin typeface="Segoe UI"/>
              </a:defRPr>
            </a:pPr>
            <a:r>
              <a:t>4️⃣ Results &amp; Download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2560320"/>
            <a:ext cx="2423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FB923C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Create user_session in DB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FB923C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Return matched photos array: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FB923C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  { photo_id, thumbnail_url,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FB923C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    download_url, similarity }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FB923C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GET /api/user/download/&lt;photo_id&gt;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FB923C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Log download → redirect to cloud URL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Database Schema (Supabase PostgreSQL)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97280"/>
            <a:ext cx="1828800" cy="508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File: backend/database/db.py  |  Auto-created via init_db()  |  ThreadedConnectionPool (1-20)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5394960" cy="22860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920240"/>
            <a:ext cx="73152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0574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📸  photographers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6888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id  TEXT  PRIMARY KEY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name  TEXT  NOT NULL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email  TEXT  NOT NULL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event_name  TEXT  NOT NULL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code  TEXT  UNIQUE NOT NULL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total_photos  INTEGER  DEFAULT 0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created_at  TIMESTAMP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5394960" cy="22860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920240"/>
            <a:ext cx="73152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0574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ADE80"/>
                </a:solidFill>
                <a:latin typeface="Segoe UI"/>
              </a:defRPr>
            </a:pPr>
            <a:r>
              <a:t>🖼️  photos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46888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4ADE80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id  TEXT  PRIMARY KEY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4ADE80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photographer_id  TEXT  FK → photographers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4ADE80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file_path  TEXT  (proxy URL)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4ADE80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thumbnail_path  TEXT  (proxy URL)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4ADE80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original_filename  TEXT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4ADE80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face_count  INTEGER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4ADE80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embeddings  JSONB  ← 512-dim vectors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4ADE80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uploaded_at  TIMESTAMP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297680"/>
            <a:ext cx="5394960" cy="22860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4389120"/>
            <a:ext cx="73152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526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78BFA"/>
                </a:solidFill>
                <a:latin typeface="Segoe UI"/>
              </a:defRPr>
            </a:pPr>
            <a:r>
              <a:t>👤  user_sessions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93776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A78BFA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id  TEXT  PRIMARY KEY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A78BFA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photographer_id  TEXT  FK → photographers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A78BFA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selfie_path  TEXT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A78BFA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matched_count  INTEGER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A78BFA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created_at  TIMESTAMP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4297680"/>
            <a:ext cx="5394960" cy="22860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389120"/>
            <a:ext cx="731520" cy="381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4526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B923C"/>
                </a:solidFill>
                <a:latin typeface="Segoe UI"/>
              </a:defRPr>
            </a:pPr>
            <a:r>
              <a:t>📥  download_logs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93776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FB923C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id  TEXT  PRIMARY KEY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FB923C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session_id  TEXT  FK → user_sessions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FB923C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photo_id  TEXT  FK → photos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FB923C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downloaded_at  TIMESTAMP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Face Matching Algorithm — Cosine Similarity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97280"/>
            <a:ext cx="18288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303520" cy="27432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554480"/>
            <a:ext cx="73152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📐  Mathematical 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03120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38BDF8"/>
                </a:solidFill>
                <a:latin typeface="Segoe UI"/>
              </a:rPr>
              <a:t>▸ </a:t>
            </a:r>
            <a:r>
              <a:rPr sz="1400">
                <a:solidFill>
                  <a:srgbClr val="E2E8F0"/>
                </a:solidFill>
                <a:latin typeface="Segoe UI"/>
              </a:rPr>
              <a:t>similarity(A, B) = (A · B) / (||A|| × ||B||)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38BDF8"/>
                </a:solidFill>
                <a:latin typeface="Segoe UI"/>
              </a:rPr>
              <a:t>▸ </a:t>
            </a:r>
            <a:r>
              <a:rPr sz="1400">
                <a:solidFill>
                  <a:srgbClr val="E2E8F0"/>
                </a:solidFill>
                <a:latin typeface="Segoe UI"/>
              </a:rPr>
              <a:t/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38BDF8"/>
                </a:solidFill>
                <a:latin typeface="Segoe UI"/>
              </a:rPr>
              <a:t>▸ </a:t>
            </a:r>
            <a:r>
              <a:rPr sz="1400">
                <a:solidFill>
                  <a:srgbClr val="E2E8F0"/>
                </a:solidFill>
                <a:latin typeface="Segoe UI"/>
              </a:rPr>
              <a:t>A = User selfie embedding (512-dimensional vector)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38BDF8"/>
                </a:solidFill>
                <a:latin typeface="Segoe UI"/>
              </a:rPr>
              <a:t>▸ </a:t>
            </a:r>
            <a:r>
              <a:rPr sz="1400">
                <a:solidFill>
                  <a:srgbClr val="E2E8F0"/>
                </a:solidFill>
                <a:latin typeface="Segoe UI"/>
              </a:rPr>
              <a:t>B = Each face embedding from event photos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38BDF8"/>
                </a:solidFill>
                <a:latin typeface="Segoe UI"/>
              </a:rPr>
              <a:t>▸ </a:t>
            </a:r>
            <a:r>
              <a:rPr sz="1400">
                <a:solidFill>
                  <a:srgbClr val="E2E8F0"/>
                </a:solidFill>
                <a:latin typeface="Segoe UI"/>
              </a:rPr>
              <a:t>Result range: -1.0 to 1.0 (1.0 = perfect match)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38BDF8"/>
                </a:solidFill>
                <a:latin typeface="Segoe UI"/>
              </a:rPr>
              <a:t>▸ </a:t>
            </a:r>
            <a:r>
              <a:rPr sz="1400">
                <a:solidFill>
                  <a:srgbClr val="E2E8F0"/>
                </a:solidFill>
                <a:latin typeface="Segoe UI"/>
              </a:rPr>
              <a:t/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38BDF8"/>
                </a:solidFill>
                <a:latin typeface="Segoe UI"/>
              </a:rPr>
              <a:t>▸ </a:t>
            </a:r>
            <a:r>
              <a:rPr sz="1400">
                <a:solidFill>
                  <a:srgbClr val="E2E8F0"/>
                </a:solidFill>
                <a:latin typeface="Segoe UI"/>
              </a:rPr>
              <a:t>InsightFace outputs normalized embeddings →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38BDF8"/>
                </a:solidFill>
                <a:latin typeface="Segoe UI"/>
              </a:rPr>
              <a:t>▸ </a:t>
            </a:r>
            <a:r>
              <a:rPr sz="1400">
                <a:solidFill>
                  <a:srgbClr val="E2E8F0"/>
                </a:solidFill>
                <a:latin typeface="Segoe UI"/>
              </a:rPr>
              <a:t>  dot product ≈ cosine similarity directly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63040"/>
            <a:ext cx="5303520" cy="27432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554480"/>
            <a:ext cx="73152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691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Segoe UI"/>
              </a:defRPr>
            </a:pPr>
            <a:r>
              <a:t>⚡  Implementation (matching_service.py)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103120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4ADE80"/>
                </a:solidFill>
                <a:latin typeface="Segoe UI"/>
              </a:rPr>
              <a:t>▸ </a:t>
            </a:r>
            <a:r>
              <a:rPr sz="1400">
                <a:solidFill>
                  <a:srgbClr val="E2E8F0"/>
                </a:solidFill>
                <a:latin typeface="Segoe UI"/>
              </a:rPr>
              <a:t>a = np.array(user_emb, dtype=float32).flatten()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4ADE80"/>
                </a:solidFill>
                <a:latin typeface="Segoe UI"/>
              </a:rPr>
              <a:t>▸ </a:t>
            </a:r>
            <a:r>
              <a:rPr sz="1400">
                <a:solidFill>
                  <a:srgbClr val="E2E8F0"/>
                </a:solidFill>
                <a:latin typeface="Segoe UI"/>
              </a:rPr>
              <a:t>b = np.array(photo_emb, dtype=float32).flatten()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4ADE80"/>
                </a:solidFill>
                <a:latin typeface="Segoe UI"/>
              </a:rPr>
              <a:t>▸ </a:t>
            </a:r>
            <a:r>
              <a:rPr sz="1400">
                <a:solidFill>
                  <a:srgbClr val="E2E8F0"/>
                </a:solidFill>
                <a:latin typeface="Segoe UI"/>
              </a:rPr>
              <a:t>norm_a = np.linalg.norm(a)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4ADE80"/>
                </a:solidFill>
                <a:latin typeface="Segoe UI"/>
              </a:rPr>
              <a:t>▸ </a:t>
            </a:r>
            <a:r>
              <a:rPr sz="1400">
                <a:solidFill>
                  <a:srgbClr val="E2E8F0"/>
                </a:solidFill>
                <a:latin typeface="Segoe UI"/>
              </a:rPr>
              <a:t>norm_b = np.linalg.norm(b)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4ADE80"/>
                </a:solidFill>
                <a:latin typeface="Segoe UI"/>
              </a:rPr>
              <a:t>▸ </a:t>
            </a:r>
            <a:r>
              <a:rPr sz="1400">
                <a:solidFill>
                  <a:srgbClr val="E2E8F0"/>
                </a:solidFill>
                <a:latin typeface="Segoe UI"/>
              </a:rPr>
              <a:t>similarity = np.dot(a, b) / (norm_a × norm_b)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4ADE80"/>
                </a:solidFill>
                <a:latin typeface="Segoe UI"/>
              </a:rPr>
              <a:t>▸ </a:t>
            </a:r>
            <a:r>
              <a:rPr sz="1400">
                <a:solidFill>
                  <a:srgbClr val="E2E8F0"/>
                </a:solidFill>
                <a:latin typeface="Segoe UI"/>
              </a:rPr>
              <a:t/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4ADE80"/>
                </a:solidFill>
                <a:latin typeface="Segoe UI"/>
              </a:rPr>
              <a:t>▸ </a:t>
            </a:r>
            <a:r>
              <a:rPr sz="1400">
                <a:solidFill>
                  <a:srgbClr val="E2E8F0"/>
                </a:solidFill>
                <a:latin typeface="Segoe UI"/>
              </a:rPr>
              <a:t>For each photo: track best_sim across all faces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4ADE80"/>
                </a:solidFill>
                <a:latin typeface="Segoe UI"/>
              </a:rPr>
              <a:t>▸ </a:t>
            </a:r>
            <a:r>
              <a:rPr sz="1400">
                <a:solidFill>
                  <a:srgbClr val="E2E8F0"/>
                </a:solidFill>
                <a:latin typeface="Segoe UI"/>
              </a:rPr>
              <a:t>Match confirmed if best_sim ≥ 0.4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572000"/>
            <a:ext cx="10972800" cy="20116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4663440"/>
            <a:ext cx="731520" cy="381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800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B923C"/>
                </a:solidFill>
                <a:latin typeface="Segoe UI"/>
              </a:defRPr>
            </a:pPr>
            <a:r>
              <a:t>🎯  Threshold Configuration (Config.SIMILARITY_THRESHOLD = 0.4)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21208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FB923C"/>
                </a:solidFill>
                <a:latin typeface="Segoe UI"/>
              </a:rPr>
              <a:t>▸ </a:t>
            </a:r>
            <a:r>
              <a:rPr sz="1400">
                <a:solidFill>
                  <a:srgbClr val="E2E8F0"/>
                </a:solidFill>
                <a:latin typeface="Segoe UI"/>
              </a:rPr>
              <a:t>0.4 = Aggressive recall — catches more potential matches, may include a few false positives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FB923C"/>
                </a:solidFill>
                <a:latin typeface="Segoe UI"/>
              </a:rPr>
              <a:t>▸ </a:t>
            </a:r>
            <a:r>
              <a:rPr sz="1400">
                <a:solidFill>
                  <a:srgbClr val="E2E8F0"/>
                </a:solidFill>
                <a:latin typeface="Segoe UI"/>
              </a:rPr>
              <a:t>0.5 = Balanced — good precision/recall trade-off for most event scenarios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FB923C"/>
                </a:solidFill>
                <a:latin typeface="Segoe UI"/>
              </a:rPr>
              <a:t>▸ </a:t>
            </a:r>
            <a:r>
              <a:rPr sz="1400">
                <a:solidFill>
                  <a:srgbClr val="E2E8F0"/>
                </a:solidFill>
                <a:latin typeface="Segoe UI"/>
              </a:rPr>
              <a:t>0.6+ = Conservative — very high precision but may miss matches in poor lighting/angle conditions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FB923C"/>
                </a:solidFill>
                <a:latin typeface="Segoe UI"/>
              </a:rPr>
              <a:t>▸ </a:t>
            </a:r>
            <a:r>
              <a:rPr sz="1400">
                <a:solidFill>
                  <a:srgbClr val="E2E8F0"/>
                </a:solidFill>
                <a:latin typeface="Segoe UI"/>
              </a:rPr>
              <a:t>Why 0.4?  →  Events have varied lighting, angles, partial occlusions — higher recall is preferred over missed photos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Cloud Storage — Hugging Face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97280"/>
            <a:ext cx="1828800" cy="508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File: backend/services/upload_service.py  |  Secure Proxy: backend/app.py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20240"/>
            <a:ext cx="3474720" cy="41148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2011680"/>
            <a:ext cx="731520" cy="381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923C"/>
                </a:solidFill>
                <a:latin typeface="Segoe UI"/>
              </a:defRPr>
            </a:pPr>
            <a:r>
              <a:t>📤  Upload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60320"/>
            <a:ext cx="3200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FB923C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UploadService → HfApi instance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FB923C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save_photo(temp_path, filename):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FB923C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  → UUID hex filename (no collision)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FB923C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  → path_in_repo = photos/{uuid}.jpg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FB923C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  → api.upload_file() to private dataset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FB923C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  → Return: /api/proxy/photos/{uuid}.jpg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FB923C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FB923C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generate_thumbnail(local_path):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FB923C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  → PIL Image.thumbnail(400×400, LANCZOS)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FB923C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  → Save JPEG quality=85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FB923C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  → Upload to thumbnails/ folder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920240"/>
            <a:ext cx="3474720" cy="41148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2011680"/>
            <a:ext cx="73152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148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🔒  Secure Proxy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560320"/>
            <a:ext cx="3200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GET /api/proxy/&lt;filepath&gt;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Why proxy?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  → HF_TOKEN is NEVER sent to frontend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  → Client gets photos via our API only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  → No direct HF URL exposure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How it works: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  → Build HF URL with Bearer token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  → requests.get(url, stream=True)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  → Stream 4KB chunks → Response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  → Pass-through content-type header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920240"/>
            <a:ext cx="3474720" cy="41148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39" y="2011680"/>
            <a:ext cx="73152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39" y="2148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Segoe UI"/>
              </a:defRPr>
            </a:pPr>
            <a:r>
              <a:t>📁  Repository Structure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39" y="2560320"/>
            <a:ext cx="3200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4ADE80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Repo: HF_DATASET_ID (private)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4ADE80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Type: dataset (not model/space)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4ADE80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4ADE80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photos/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4ADE80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  ├── {uuid1}.jpg   (full-res)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4ADE80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  ├── {uuid2}.png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4ADE80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  └── ...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4ADE80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4ADE80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thumbnails/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4ADE80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  ├── thumb_{uuid1}.jpg  (400×400)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4ADE80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  ├── thumb_{uuid2}.jpg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4ADE80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  └── ...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Database Connection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97280"/>
            <a:ext cx="1828800" cy="508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303520" cy="47548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554480"/>
            <a:ext cx="73152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Segoe UI"/>
              </a:defRPr>
            </a:pPr>
            <a:r>
              <a:t>🔄  Smart Connection Pool (init_pool)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0312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A78BFA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Uses psycopg2.pool.ThreadedConnectionPool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A78BFA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Min: 1 connection  |  Max: 20 connections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A78BFA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A78BFA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Multi-endpoint fallback strategy: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A78BFA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  1. Try user-configured DB URL first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A78BFA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  2. Try Supabase Transaction Pooler (port 6543)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A78BFA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  3. Try alternate port (5432 ↔ 6543)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A78BFA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  4. Auto-detect pooler vs direct host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A78BFA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A78BFA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IPv4 DNS resolution (bypass IPv6 issues):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A78BFA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  → socket.gethostbyname() for hostaddr param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A78BFA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  → Critical fix for Azure/HF Spaces networking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A78BFA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A78BFA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SSL: require for pooler, prefer for direct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A78BFA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GSS encryption: disabled (avoids Kerberos issues)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63040"/>
            <a:ext cx="5303520" cy="47548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554480"/>
            <a:ext cx="73152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691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Segoe UI"/>
              </a:defRPr>
            </a:pPr>
            <a:r>
              <a:t>🛡️  Context Manager Pattern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10312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4ADE80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@contextmanager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4ADE80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def get_db_conn():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4ADE80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    conn = _pool.getconn()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4ADE80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    try: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4ADE80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        # Health check: SELECT 1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4ADE80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        yield conn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4ADE80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    finally: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4ADE80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        _pool.putconn(conn)  # Always return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4ADE80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4ADE80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Benefits: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4ADE80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  ✅ Auto-release on exception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4ADE80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  ✅ Connection health check before use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4ADE80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  ✅ Thread-safe pool access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4ADE80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  ✅ No connection leaks possible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4ADE80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  ✅ Supports concurrent batch 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Docker &amp; Deployment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97280"/>
            <a:ext cx="18288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303520" cy="47548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554480"/>
            <a:ext cx="73152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🐳  Multi-Stage Dockerfile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0312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STAGE 1: Builder (python:3.10-slim)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  → Virtual environment: /opt/venv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  → InsightFace prebuilt wheel (30s vs 15min!)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  → pip install from requirements.txt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STAGE 2: Runtime (python:3.10-slim)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  → Only runtime libs: libgl1, libglib2.0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  → COPY --from=builder /opt/venv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  → App source code COPY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  → Writable dirs: models_cache, storage/temp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Key optimizations: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  ✅ No cmake/git in final image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  ✅ Prebuilt insightface wheel → fast CI/CD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  ✅ Minimal attack surface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63040"/>
            <a:ext cx="5303520" cy="475488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554480"/>
            <a:ext cx="731520" cy="381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691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923C"/>
                </a:solidFill>
                <a:latin typeface="Segoe UI"/>
              </a:defRPr>
            </a:pPr>
            <a:r>
              <a:t>☁️  Hugging Face Spaces Deployment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10312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FB923C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Platform: Hugging Face Spaces (free tier)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FB923C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Runtime: Docker container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FB923C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Port: 7860 (HF standard)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FB923C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Server: Waitress (production WSGI)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FB923C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FB923C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Health Check: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FB923C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  → GET /api/health every 30s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FB923C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  → start-period: 120s (model load time)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FB923C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  → Reports face_engine status + errors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FB923C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FB923C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Environment Variables (HF Secrets):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FB923C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  → SUPABASE_DATABASE_URL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FB923C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  → HF_TOKEN, HF_DATASET_ID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FB923C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  → SENTRY_DSN (optional monitoring)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FB923C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FB923C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Push: git push hf main → auto-deploys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Security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97280"/>
            <a:ext cx="1828800" cy="508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554480"/>
            <a:ext cx="3611880" cy="22860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645920"/>
            <a:ext cx="73152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78308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🔒  Strict CORS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94560"/>
            <a:ext cx="3337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Domain whitelist: localhost, cwaya.me, *.hf.space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Only /api/* routes exposed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No wildcard origins in production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554480"/>
            <a:ext cx="3611880" cy="22860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645920"/>
            <a:ext cx="73152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78308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ADE80"/>
                </a:solidFill>
                <a:latin typeface="Segoe UI"/>
              </a:defRPr>
            </a:pPr>
            <a:r>
              <a:t>🛡️  CSP Headers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194560"/>
            <a:ext cx="3337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4ADE80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frame-ancestors directive on all responses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4ADE80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Prevents clickjacking / iframe embedding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4ADE80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Whitelisted: HF, localhost, Vercel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554480"/>
            <a:ext cx="3611880" cy="22860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645920"/>
            <a:ext cx="73152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178308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78BFA"/>
                </a:solidFill>
                <a:latin typeface="Segoe UI"/>
              </a:defRPr>
            </a:pPr>
            <a:r>
              <a:t>⏱️  Rate Limiting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2194560"/>
            <a:ext cx="3337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A78BFA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Flask-Limiter on sensitive endpoints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A78BFA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verify-code: 5 requests per minute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A78BFA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Prevents brute-force code guessing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023360"/>
            <a:ext cx="3611880" cy="22860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4114800"/>
            <a:ext cx="731520" cy="381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25196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B923C"/>
                </a:solidFill>
                <a:latin typeface="Segoe UI"/>
              </a:defRPr>
            </a:pPr>
            <a:r>
              <a:t>🔐  Secret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3337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FB923C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HF token: never exposed to frontend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FB923C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Proxy pattern for all image requests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FB923C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GitHub Push Protection enabled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FB923C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.env excluded via .gitignore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60520" y="4023360"/>
            <a:ext cx="3611880" cy="22860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80" y="4114800"/>
            <a:ext cx="731520" cy="381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425196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472B6"/>
                </a:solidFill>
                <a:latin typeface="Segoe UI"/>
              </a:defRPr>
            </a:pPr>
            <a:r>
              <a:t>📊  Error Monitoring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663440"/>
            <a:ext cx="3337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F472B6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Sentry SDK with Flask integration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F472B6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traces_sample_rate: 0.05 (5%)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F472B6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Global @app.errorhandler(Exception)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F472B6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Graceful 503 responses, no stack leaks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80" y="4023360"/>
            <a:ext cx="3611880" cy="22860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92440" y="4114800"/>
            <a:ext cx="73152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92440" y="425196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🧵  Concurrency Guards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4663440"/>
            <a:ext cx="3337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AI_SEMAPHORE(1): only 1 AI batch at a time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UPLOAD_EXECUTOR(5): bounded upload threads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▸ </a:t>
            </a:r>
            <a:r>
              <a:rPr sz="1200">
                <a:solidFill>
                  <a:srgbClr val="E2E8F0"/>
                </a:solidFill>
                <a:latin typeface="Segoe UI"/>
              </a:rPr>
              <a:t>Prevents OOM crash on 2-vCPU free tier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Concurrency &amp; Performance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97280"/>
            <a:ext cx="1828800" cy="508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303520" cy="25603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554480"/>
            <a:ext cx="73152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Segoe UI"/>
              </a:defRPr>
            </a:pPr>
            <a:r>
              <a:t>🧵  Thread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0312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4ADE80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Main Thread → Flask/Waitress request handling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4ADE80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Background Thread → FaceEngine loading at startup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4ADE80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AI_SEMAPHORE(1) → Only 1 batch AI-scanned at a time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4ADE80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UPLOAD_EXECUTOR(5) → 5 concurrent HF uploads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4ADE80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4ADE80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Why? 2-vCPU HF free tier → OOM if unbounded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63040"/>
            <a:ext cx="5303520" cy="25603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554480"/>
            <a:ext cx="73152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691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Segoe UI"/>
              </a:defRPr>
            </a:pPr>
            <a:r>
              <a:t>📊  Batch Processing Pattern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10312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A78BFA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Phase 1 (Sequential, CPU-bound):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A78BFA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  → AI_SEMAPHORE lock acquired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A78BFA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  → For each photo: detect_and_embed()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A78BFA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  → Skip no-face photos immediately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A78BFA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  → Submit upload task to executor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A78BFA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A78BFA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Phase 2 (Parallel, I/O-bound):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A78BFA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  → ThreadPoolExecutor handles 5 uploads concurrently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A78BFA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  → future.result() waited before marking complete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297680"/>
            <a:ext cx="10972800" cy="22860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4389120"/>
            <a:ext cx="731520" cy="381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5262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923C"/>
                </a:solidFill>
                <a:latin typeface="Segoe UI"/>
              </a:defRPr>
            </a:pPr>
            <a:r>
              <a:t>⚡  Performance Characteristics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FB923C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Model Load Time: ~60-90s on cold start (buffalo_l ONNX, 640×640 det_size)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FB923C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Face Detection: ~200-500ms per photo (CPU mode, depends on image size &amp; face count)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FB923C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Embedding Extraction: included in detection pass (ArcFace component of buffalo_l)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FB923C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HF Upload: ~1-3s per photo (depends on file size and network)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FB923C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Matching Query: O(N×M) where N=event photos, M=faces per photo — linear scan with NumPy vectorized ops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FB923C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Max batch size: 120 photos per upload request (Config.MAX_PHOTOS_PER_BATCH)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FB923C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Max upload size: 500MB per request (Config.MAX_CONTENT_LENGTH)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GitHub, DevOps &amp; Project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97280"/>
            <a:ext cx="18288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303520" cy="21031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554480"/>
            <a:ext cx="73152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🐙  GitHub Repository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0312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Repo: github.com/himansh478/ai-photosharing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Branch: main (single branch workflow)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Push Protection: GitHub secret scanning enabled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LFS: enabled for large model files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38BDF8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.gitignore: .env, logs, venv, models_cache, __pycache__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63040"/>
            <a:ext cx="5303520" cy="21031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554480"/>
            <a:ext cx="731520" cy="381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691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B923C"/>
                </a:solidFill>
                <a:latin typeface="Segoe UI"/>
              </a:defRPr>
            </a:pPr>
            <a:r>
              <a:t>🚀  Dual Deployment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10312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FB923C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Hugging Face Spaces → gour-himansh.hf.space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FB923C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  → Docker-based, auto-deploy on git push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FB923C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  → Free tier: 2 vCPU, 16GB RAM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FB923C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Azure App Service (legacy) → via deploy-azure.ps1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FB923C"/>
                </a:solidFill>
                <a:latin typeface="Segoe UI"/>
              </a:rPr>
              <a:t>▸ </a:t>
            </a:r>
            <a:r>
              <a:rPr sz="1300">
                <a:solidFill>
                  <a:srgbClr val="E2E8F0"/>
                </a:solidFill>
                <a:latin typeface="Segoe UI"/>
              </a:rPr>
              <a:t>  → azure.Dockerfile available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40480"/>
            <a:ext cx="10972800" cy="265176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3931920"/>
            <a:ext cx="73152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0690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Segoe UI"/>
              </a:defRPr>
            </a:pPr>
            <a:r>
              <a:t>📋  Technical Summary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4805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4ADE80"/>
                </a:solidFill>
                <a:latin typeface="Segoe UI"/>
              </a:rPr>
              <a:t>▸ </a:t>
            </a:r>
            <a:r>
              <a:rPr sz="1400">
                <a:solidFill>
                  <a:srgbClr val="E2E8F0"/>
                </a:solidFill>
                <a:latin typeface="Segoe UI"/>
              </a:rPr>
              <a:t>✅ Full-stack AI application: Frontend (static HTML/JS) → Backend (Flask) → AI Engine (InsightFace/ONNX) → Cloud (HF + Supabase)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4ADE80"/>
                </a:solidFill>
                <a:latin typeface="Segoe UI"/>
              </a:rPr>
              <a:t>▸ </a:t>
            </a:r>
            <a:r>
              <a:rPr sz="1400">
                <a:solidFill>
                  <a:srgbClr val="E2E8F0"/>
                </a:solidFill>
                <a:latin typeface="Segoe UI"/>
              </a:rPr>
              <a:t>✅ Production-grade: Connection pooling, thread safety, rate limiting, error monitoring, secret management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4ADE80"/>
                </a:solidFill>
                <a:latin typeface="Segoe UI"/>
              </a:rPr>
              <a:t>▸ </a:t>
            </a:r>
            <a:r>
              <a:rPr sz="1400">
                <a:solidFill>
                  <a:srgbClr val="E2E8F0"/>
                </a:solidFill>
                <a:latin typeface="Segoe UI"/>
              </a:rPr>
              <a:t>✅ Smart AI Pipeline: Batch async processing, semaphore-gated compute, face-skip optimization, background model loading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4ADE80"/>
                </a:solidFill>
                <a:latin typeface="Segoe UI"/>
              </a:rPr>
              <a:t>▸ </a:t>
            </a:r>
            <a:r>
              <a:rPr sz="1400">
                <a:solidFill>
                  <a:srgbClr val="E2E8F0"/>
                </a:solidFill>
                <a:latin typeface="Segoe UI"/>
              </a:rPr>
              <a:t>✅ Secure by Design: CORS whitelist, CSP headers, proxy pattern (zero token exposure), GitHub push protection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4ADE80"/>
                </a:solidFill>
                <a:latin typeface="Segoe UI"/>
              </a:rPr>
              <a:t>▸ </a:t>
            </a:r>
            <a:r>
              <a:rPr sz="1400">
                <a:solidFill>
                  <a:srgbClr val="E2E8F0"/>
                </a:solidFill>
                <a:latin typeface="Segoe UI"/>
              </a:rPr>
              <a:t>✅ Cloud-Native: Docker multi-stage, health checks, environment-based config, dual deployment targets (HF + Azure)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4ADE80"/>
                </a:solidFill>
                <a:latin typeface="Segoe UI"/>
              </a:rPr>
              <a:t>▸ </a:t>
            </a:r>
            <a:r>
              <a:rPr sz="1400">
                <a:solidFill>
                  <a:srgbClr val="E2E8F0"/>
                </a:solidFill>
                <a:latin typeface="Segoe UI"/>
              </a:rPr>
              <a:t>✅ Tested: Pytest unit tests with monkeypatched DB, TESTING flag for fast test execution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